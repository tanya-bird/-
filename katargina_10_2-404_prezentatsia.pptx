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702" y="78"/>
      </p:cViewPr>
      <p:guideLst>
        <p:guide orient="horz" pos="2127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" altLang="en-US"/>
              <a:t>«</a:t>
            </a:r>
            <a:r>
              <a:rPr lang="en-US" altLang="en-US"/>
              <a:t>Брошюра с народными музыкальными цитатами в операх русских композиторов</a:t>
            </a:r>
            <a:r>
              <a:rPr lang="" altLang="en-US"/>
              <a:t>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106670"/>
            <a:ext cx="4509770" cy="1222375"/>
          </a:xfrm>
        </p:spPr>
        <p:txBody>
          <a:bodyPr/>
          <a:lstStyle/>
          <a:p>
            <a:r>
              <a:rPr lang="x-none" altLang="en-US"/>
              <a:t>Катаргина Татьяна </a:t>
            </a:r>
          </a:p>
          <a:p>
            <a:r>
              <a:rPr lang="x-none" altLang="en-US"/>
              <a:t>2 курс </a:t>
            </a:r>
          </a:p>
          <a:p>
            <a:r>
              <a:rPr lang="x-none" altLang="en-US"/>
              <a:t>10.2-404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x-none" altLang="en-US"/>
              <a:t>Цель: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955"/>
            <a:ext cx="6714490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/>
              <a:t>Сформировать у обучающихся умение находить связи между профессиональной музыкой и фольклором: определять, как русские композиторы (М.И. Глинка, Н.А. Римский-Корсаков, А.П. Бородин, М.П. Мусоргский, П.И. Чайковский) использовали подлинные народные мелодии или создавали музыку в народном стиле в своих операх; </a:t>
            </a:r>
          </a:p>
          <a:p>
            <a:pPr marL="0" indent="0">
              <a:buNone/>
            </a:pPr>
            <a:r>
              <a:rPr lang="en-US" altLang="en-US" sz="2400"/>
              <a:t>сравнивать фольклорный оригинал и его композиторскую обработку; </a:t>
            </a:r>
          </a:p>
          <a:p>
            <a:pPr marL="0" indent="0">
              <a:buNone/>
            </a:pPr>
            <a:r>
              <a:rPr lang="en-US" altLang="en-US" sz="2400"/>
              <a:t>аргументированно определять функцию народной цитаты в драматургии спектакля.</a:t>
            </a:r>
          </a:p>
        </p:txBody>
      </p:sp>
      <p:pic>
        <p:nvPicPr>
          <p:cNvPr id="4" name="Picture 3" descr="Бороди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60" y="1204595"/>
            <a:ext cx="1512570" cy="2017395"/>
          </a:xfrm>
          <a:prstGeom prst="rect">
            <a:avLst/>
          </a:prstGeom>
        </p:spPr>
      </p:pic>
      <p:pic>
        <p:nvPicPr>
          <p:cNvPr id="5" name="Picture 4" descr="Глинк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715" y="1204595"/>
            <a:ext cx="1443990" cy="1925955"/>
          </a:xfrm>
          <a:prstGeom prst="rect">
            <a:avLst/>
          </a:prstGeom>
        </p:spPr>
      </p:pic>
      <p:pic>
        <p:nvPicPr>
          <p:cNvPr id="6" name="Picture 5" descr="Мусоргский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275" y="3298825"/>
            <a:ext cx="1518920" cy="2025650"/>
          </a:xfrm>
          <a:prstGeom prst="rect">
            <a:avLst/>
          </a:prstGeom>
        </p:spPr>
      </p:pic>
      <p:pic>
        <p:nvPicPr>
          <p:cNvPr id="7" name="Picture 6" descr="Римский-Корсаков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540" y="4641850"/>
            <a:ext cx="1689735" cy="2124075"/>
          </a:xfrm>
          <a:prstGeom prst="rect">
            <a:avLst/>
          </a:prstGeom>
        </p:spPr>
      </p:pic>
      <p:pic>
        <p:nvPicPr>
          <p:cNvPr id="8" name="Picture 7" descr="Чайковский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815" y="3429000"/>
            <a:ext cx="1421130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altLang="en-US"/>
              <a:t>Описание </a:t>
            </a:r>
            <a:r>
              <a:rPr lang="en-US" altLang="en-US"/>
              <a:t>web-брошюры</a:t>
            </a:r>
            <a:r>
              <a:rPr lang="x-none" altLang="en-US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39850"/>
            <a:ext cx="10915650" cy="540004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 err="1"/>
              <a:t>Брошюра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включает</a:t>
            </a:r>
            <a:r>
              <a:rPr lang="en-US" altLang="en-US" sz="1800" dirty="0"/>
              <a:t> 8 </a:t>
            </a:r>
            <a:r>
              <a:rPr lang="en-US" altLang="en-US" sz="1800" dirty="0" err="1"/>
              <a:t>оперных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фрагментов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основанных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народных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цитатах</a:t>
            </a:r>
            <a:r>
              <a:rPr lang="en-US" altLang="en-US" sz="1800" dirty="0"/>
              <a:t>:</a:t>
            </a:r>
          </a:p>
          <a:p>
            <a:r>
              <a:rPr lang="en-US" altLang="en-US" sz="1800" dirty="0"/>
              <a:t>М.И. </a:t>
            </a:r>
            <a:r>
              <a:rPr lang="en-US" altLang="en-US" sz="1800" dirty="0" err="1"/>
              <a:t>Глинка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Иван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Сусанин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Хор</a:t>
            </a:r>
            <a:r>
              <a:rPr lang="en-US" altLang="en-US" sz="1800" dirty="0"/>
              <a:t> </a:t>
            </a:r>
            <a:r>
              <a:rPr lang="" altLang="en-US" sz="1800" dirty="0"/>
              <a:t>«</a:t>
            </a:r>
            <a:r>
              <a:rPr lang="en-US" altLang="en-US" sz="1800" dirty="0" err="1"/>
              <a:t>Славься</a:t>
            </a:r>
            <a:r>
              <a:rPr lang="" altLang="en-US" sz="1800" dirty="0"/>
              <a:t>»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интонации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молодецких</a:t>
            </a:r>
            <a:r>
              <a:rPr lang="en-US" altLang="en-US" sz="1800" dirty="0"/>
              <a:t> и </a:t>
            </a:r>
            <a:r>
              <a:rPr lang="en-US" altLang="en-US" sz="1800" dirty="0" err="1"/>
              <a:t>славленых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песен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М.И. </a:t>
            </a:r>
            <a:r>
              <a:rPr lang="en-US" altLang="en-US" sz="1800" dirty="0" err="1"/>
              <a:t>Глинка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Руслан</a:t>
            </a:r>
            <a:r>
              <a:rPr lang="en-US" altLang="en-US" sz="1800" dirty="0"/>
              <a:t> и </a:t>
            </a:r>
            <a:r>
              <a:rPr lang="en-US" altLang="en-US" sz="1800" dirty="0" err="1"/>
              <a:t>Людмила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Персидский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хор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стилизация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восточного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фольклора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А.П. </a:t>
            </a:r>
            <a:r>
              <a:rPr lang="en-US" altLang="en-US" sz="1800" dirty="0" err="1"/>
              <a:t>Бородин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Князь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Игорь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Плач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Ярославны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интонации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народных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плачей</a:t>
            </a:r>
            <a:r>
              <a:rPr lang="en-US" altLang="en-US" sz="1800" dirty="0"/>
              <a:t> и </a:t>
            </a:r>
            <a:r>
              <a:rPr lang="en-US" altLang="en-US" sz="1800" dirty="0" err="1"/>
              <a:t>причетов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М.П. </a:t>
            </a:r>
            <a:r>
              <a:rPr lang="en-US" altLang="en-US" sz="1800" dirty="0" err="1"/>
              <a:t>Мусоргский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Хованщина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Хор</a:t>
            </a:r>
            <a:r>
              <a:rPr lang="en-US" altLang="en-US" sz="1800" dirty="0"/>
              <a:t> </a:t>
            </a:r>
            <a:r>
              <a:rPr lang="" altLang="en-US" sz="1800" dirty="0"/>
              <a:t>«</a:t>
            </a:r>
            <a:r>
              <a:rPr lang="en-US" altLang="en-US" sz="1800" dirty="0" err="1"/>
              <a:t>Исходила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младешенька</a:t>
            </a:r>
            <a:r>
              <a:rPr lang="" altLang="en-US" sz="1800" dirty="0"/>
              <a:t>»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подлинная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песня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Н.А. </a:t>
            </a:r>
            <a:r>
              <a:rPr lang="en-US" altLang="en-US" sz="1800" dirty="0" err="1"/>
              <a:t>Римский-Корсаков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Снегурочка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Песня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Леля</a:t>
            </a:r>
            <a:r>
              <a:rPr lang="en-US" altLang="en-US" sz="1800" dirty="0"/>
              <a:t> </a:t>
            </a:r>
            <a:r>
              <a:rPr lang="" altLang="en-US" sz="1800" dirty="0"/>
              <a:t>«</a:t>
            </a:r>
            <a:r>
              <a:rPr lang="en-US" altLang="en-US" sz="1800" dirty="0" err="1"/>
              <a:t>Туча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громом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сговаривалась</a:t>
            </a:r>
            <a:r>
              <a:rPr lang="" altLang="en-US" sz="1800" dirty="0"/>
              <a:t>»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подлинный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народный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напев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Н.А. </a:t>
            </a:r>
            <a:r>
              <a:rPr lang="en-US" altLang="en-US" sz="1800" dirty="0" err="1"/>
              <a:t>Римский-Корсаков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Садко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Песня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Варяжского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гостя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стилизация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скандинавского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эпоса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П.И. </a:t>
            </a:r>
            <a:r>
              <a:rPr lang="en-US" altLang="en-US" sz="1800" dirty="0" err="1"/>
              <a:t>Чайковский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Евгений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Онегин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Хор</a:t>
            </a:r>
            <a:r>
              <a:rPr lang="en-US" altLang="en-US" sz="1800" dirty="0"/>
              <a:t> </a:t>
            </a:r>
            <a:r>
              <a:rPr lang="" altLang="en-US" sz="1800" dirty="0"/>
              <a:t>«</a:t>
            </a:r>
            <a:r>
              <a:rPr lang="en-US" altLang="en-US" sz="1800" dirty="0" err="1"/>
              <a:t>Девицы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красавицы</a:t>
            </a:r>
            <a:r>
              <a:rPr lang="" altLang="en-US" sz="1800" dirty="0"/>
              <a:t>»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цитата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народной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песни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М.П. </a:t>
            </a:r>
            <a:r>
              <a:rPr lang="en-US" altLang="en-US" sz="1800" dirty="0" err="1"/>
              <a:t>Мусоргский</a:t>
            </a:r>
            <a:r>
              <a:rPr lang="en-US" altLang="en-US" sz="1800" dirty="0"/>
              <a:t>, </a:t>
            </a:r>
            <a:r>
              <a:rPr lang="" altLang="en-US" sz="1800" dirty="0"/>
              <a:t>«</a:t>
            </a:r>
            <a:r>
              <a:rPr lang="en-US" altLang="en-US" sz="1800" dirty="0" err="1"/>
              <a:t>Борис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Годунов</a:t>
            </a:r>
            <a:r>
              <a:rPr lang="" altLang="en-US" sz="1800" dirty="0"/>
              <a:t>»</a:t>
            </a:r>
            <a:r>
              <a:rPr lang="en-US" altLang="en-US" sz="1800" dirty="0"/>
              <a:t> — </a:t>
            </a:r>
            <a:r>
              <a:rPr lang="en-US" altLang="en-US" sz="1800" dirty="0" err="1"/>
              <a:t>Хор</a:t>
            </a:r>
            <a:r>
              <a:rPr lang="en-US" altLang="en-US" sz="1800" dirty="0"/>
              <a:t> </a:t>
            </a:r>
            <a:r>
              <a:rPr lang="" altLang="en-US" sz="1800" dirty="0"/>
              <a:t>«</a:t>
            </a:r>
            <a:r>
              <a:rPr lang="en-US" altLang="en-US" sz="1800" dirty="0" err="1"/>
              <a:t>Расходилась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разгулялась</a:t>
            </a:r>
            <a:r>
              <a:rPr lang="" altLang="en-US" sz="1800" dirty="0"/>
              <a:t>»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подлинная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песня</a:t>
            </a:r>
            <a:r>
              <a:rPr lang="en-US" altLang="en-US" sz="1800" dirty="0"/>
              <a:t>)</a:t>
            </a:r>
          </a:p>
          <a:p>
            <a:pPr marL="0" indent="0">
              <a:buNone/>
            </a:pPr>
            <a:r>
              <a:rPr lang="x-none" altLang="en-US" sz="1800" dirty="0"/>
              <a:t>По </a:t>
            </a:r>
            <a:r>
              <a:rPr lang="en-US" altLang="en-US" sz="1800" dirty="0" err="1"/>
              <a:t>клик</a:t>
            </a:r>
            <a:r>
              <a:rPr lang="x-none" altLang="en-US" sz="1800" dirty="0"/>
              <a:t>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каждую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оперу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открывается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окно</a:t>
            </a:r>
            <a:r>
              <a:rPr lang="en-US" altLang="en-US" sz="1800" dirty="0"/>
              <a:t> с </a:t>
            </a:r>
            <a:r>
              <a:rPr lang="en-US" altLang="en-US" sz="1800" dirty="0" err="1"/>
              <a:t>пятью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элементами</a:t>
            </a:r>
            <a:r>
              <a:rPr lang="en-US" altLang="en-US" sz="1800" dirty="0"/>
              <a:t>:</a:t>
            </a:r>
            <a:r>
              <a:rPr lang="x-none" altLang="en-US" sz="1800" dirty="0"/>
              <a:t> </a:t>
            </a:r>
            <a:r>
              <a:rPr lang="en-US" altLang="en-US" sz="1800" dirty="0" err="1"/>
              <a:t>Аудио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фрагмент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оригинальной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народной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мелодии</a:t>
            </a:r>
            <a:r>
              <a:rPr lang="en-US" altLang="en-US" sz="1800" dirty="0"/>
              <a:t> (20–30 </a:t>
            </a:r>
            <a:r>
              <a:rPr lang="en-US" altLang="en-US" sz="1800" dirty="0" err="1"/>
              <a:t>секунд</a:t>
            </a:r>
            <a:r>
              <a:rPr lang="en-US" altLang="en-US" sz="1800" dirty="0"/>
              <a:t>);</a:t>
            </a:r>
            <a:r>
              <a:rPr lang="x-none" altLang="en-US" sz="1800" dirty="0"/>
              <a:t> </a:t>
            </a:r>
            <a:r>
              <a:rPr lang="en-US" altLang="en-US" sz="1800" dirty="0" err="1"/>
              <a:t>Аудио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фрагмент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оперного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номера</a:t>
            </a:r>
            <a:r>
              <a:rPr lang="en-US" altLang="en-US" sz="1800" dirty="0"/>
              <a:t> с </a:t>
            </a:r>
            <a:r>
              <a:rPr lang="en-US" altLang="en-US" sz="1800" dirty="0" err="1"/>
              <a:t>этой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цитатой</a:t>
            </a:r>
            <a:r>
              <a:rPr lang="en-US" altLang="en-US" sz="1800" dirty="0"/>
              <a:t> (30–40 </a:t>
            </a:r>
            <a:r>
              <a:rPr lang="en-US" altLang="en-US" sz="1800" dirty="0" err="1"/>
              <a:t>секунд</a:t>
            </a:r>
            <a:r>
              <a:rPr lang="en-US" altLang="en-US" sz="1800" dirty="0"/>
              <a:t>);</a:t>
            </a:r>
            <a:r>
              <a:rPr lang="x-none" altLang="en-US" sz="1800" dirty="0"/>
              <a:t> </a:t>
            </a:r>
            <a:r>
              <a:rPr lang="en-US" altLang="en-US" sz="1800" dirty="0" err="1"/>
              <a:t>Нотная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строка</a:t>
            </a:r>
            <a:r>
              <a:rPr lang="en-US" altLang="en-US" sz="1800" dirty="0"/>
              <a:t> с </a:t>
            </a:r>
            <a:r>
              <a:rPr lang="en-US" altLang="en-US" sz="1800" dirty="0" err="1"/>
              <a:t>фрагментом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темы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оригинал</a:t>
            </a:r>
            <a:r>
              <a:rPr lang="en-US" altLang="en-US" sz="1800" dirty="0"/>
              <a:t> vs </a:t>
            </a:r>
            <a:r>
              <a:rPr lang="en-US" altLang="en-US" sz="1800" dirty="0" err="1"/>
              <a:t>обработка</a:t>
            </a:r>
            <a:r>
              <a:rPr lang="en-US" altLang="en-US" sz="1800" dirty="0"/>
              <a:t>);</a:t>
            </a:r>
            <a:r>
              <a:rPr lang="x-none" altLang="en-US" sz="1800" dirty="0"/>
              <a:t> </a:t>
            </a:r>
            <a:r>
              <a:rPr lang="en-US" altLang="en-US" sz="1800" dirty="0" err="1"/>
              <a:t>Иллюстрация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эскиз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декорации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или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костюмов</a:t>
            </a:r>
            <a:r>
              <a:rPr lang="en-US" altLang="en-US" sz="1800" dirty="0"/>
              <a:t> к </a:t>
            </a:r>
            <a:r>
              <a:rPr lang="en-US" altLang="en-US" sz="1800" dirty="0" err="1"/>
              <a:t>сцене</a:t>
            </a:r>
            <a:r>
              <a:rPr lang="en-US" altLang="en-US" sz="1800" dirty="0"/>
              <a:t>);</a:t>
            </a:r>
            <a:r>
              <a:rPr lang="x-none" altLang="en-US" sz="1800" dirty="0"/>
              <a:t> </a:t>
            </a:r>
            <a:r>
              <a:rPr lang="en-US" altLang="en-US" sz="1800" dirty="0" err="1"/>
              <a:t>Короткий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текст</a:t>
            </a:r>
            <a:r>
              <a:rPr lang="en-US" altLang="en-US" sz="1800" dirty="0"/>
              <a:t> (3–4 </a:t>
            </a:r>
            <a:r>
              <a:rPr lang="en-US" altLang="en-US" sz="1800" dirty="0" err="1"/>
              <a:t>предложения</a:t>
            </a:r>
            <a:r>
              <a:rPr lang="en-US" altLang="en-US" sz="1800" dirty="0"/>
              <a:t>) о </a:t>
            </a:r>
            <a:r>
              <a:rPr lang="en-US" altLang="en-US" sz="1800" dirty="0" err="1"/>
              <a:t>том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какую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роль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играет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эта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цитата</a:t>
            </a:r>
            <a:r>
              <a:rPr lang="en-US" altLang="en-US" sz="1800" dirty="0"/>
              <a:t> в </a:t>
            </a:r>
            <a:r>
              <a:rPr lang="en-US" altLang="en-US" sz="1800" dirty="0" err="1"/>
              <a:t>опере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характеристика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героя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создание</a:t>
            </a:r>
            <a:r>
              <a:rPr lang="en-US" altLang="en-US" sz="1800" dirty="0"/>
              <a:t> </a:t>
            </a:r>
            <a:r>
              <a:rPr lang="en-US" altLang="en-US" sz="1800" dirty="0" err="1"/>
              <a:t>колорита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массовая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сцена</a:t>
            </a:r>
            <a:r>
              <a:rPr lang="en-US" altLang="en-US" sz="1800"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План работы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55" y="1323975"/>
            <a:ext cx="11091545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/>
              <a:t>1. Получение доступа. Каждый ученик открывает ресурс на своем устройстве. </a:t>
            </a:r>
          </a:p>
          <a:p>
            <a:pPr marL="0" indent="0">
              <a:buNone/>
            </a:pPr>
            <a:r>
              <a:rPr lang="en-US" altLang="en-US" sz="2400"/>
              <a:t>2. Ознакомление. Учащиеся в свободном порядке кликают по всем восьми операм, бегло знакомятся с информацией, слушают фрагменты народных мелодий</a:t>
            </a:r>
            <a:r>
              <a:rPr lang="x-none" altLang="en-US" sz="2400"/>
              <a:t>.</a:t>
            </a:r>
          </a:p>
          <a:p>
            <a:pPr marL="0" indent="0">
              <a:buNone/>
            </a:pPr>
            <a:r>
              <a:rPr lang="en-US" altLang="en-US" sz="2400"/>
              <a:t>3. Мозговой штурм (работа в парах). Ученики прослушивают аудиофрагменты народных мелодий, не глядя на название оперы, и записывают в тетради ответы на три вопроса:</a:t>
            </a:r>
            <a:r>
              <a:rPr lang="x-none" altLang="en-US" sz="2400"/>
              <a:t> </a:t>
            </a:r>
            <a:r>
              <a:rPr lang="en-US" altLang="en-US" sz="2400"/>
              <a:t>какая мелодия звучит наиболее архаично и связана с обрядом;</a:t>
            </a:r>
            <a:r>
              <a:rPr lang="x-none" altLang="en-US" sz="2400"/>
              <a:t> </a:t>
            </a:r>
            <a:r>
              <a:rPr lang="en-US" altLang="en-US" sz="2400"/>
              <a:t>какая мелодия самая плясовая и энергичная;</a:t>
            </a:r>
            <a:r>
              <a:rPr lang="x-none" altLang="en-US" sz="2400"/>
              <a:t> </a:t>
            </a:r>
            <a:r>
              <a:rPr lang="en-US" altLang="en-US" sz="2400"/>
              <a:t>в какой мелодии слышны восточные интонации.</a:t>
            </a:r>
          </a:p>
          <a:p>
            <a:pPr marL="0" indent="0">
              <a:buNone/>
            </a:pPr>
            <a:r>
              <a:rPr lang="en-US" altLang="en-US" sz="2400"/>
              <a:t>4. Заполнение </a:t>
            </a:r>
            <a:r>
              <a:rPr lang="" altLang="en-US" sz="2400"/>
              <a:t>«</a:t>
            </a:r>
            <a:r>
              <a:rPr lang="en-US" altLang="en-US" sz="2400"/>
              <a:t>Карточки музыкального детектива</a:t>
            </a:r>
            <a:r>
              <a:rPr lang="" altLang="en-US" sz="2400"/>
              <a:t>»</a:t>
            </a:r>
            <a:r>
              <a:rPr lang="en-US" altLang="en-US" sz="2400"/>
              <a:t>. Каждый ученик получает рабочий лист с шестью вопросами. Ответы необходимо найти исключительно в web-брошюре</a:t>
            </a:r>
            <a:r>
              <a:rPr lang="x-none" altLang="en-US" sz="240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12077700" cy="1143000"/>
          </a:xfrm>
        </p:spPr>
        <p:txBody>
          <a:bodyPr/>
          <a:lstStyle/>
          <a:p>
            <a:r>
              <a:rPr lang="en-US" altLang="en-US" sz="4000">
                <a:sym typeface="+mn-ea"/>
              </a:rPr>
              <a:t>Заполнение «Карточки музыкального детектива».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4290"/>
            <a:ext cx="10972800" cy="522668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/>
              <a:t>Каждый ученик получает рабочий лист с шестью вопросами. Ответы необходимо найти исключительно в web-брошюре (во вкладках </a:t>
            </a:r>
            <a:r>
              <a:rPr lang="" altLang="en-US" sz="2000"/>
              <a:t>«</a:t>
            </a:r>
            <a:r>
              <a:rPr lang="en-US" altLang="en-US" sz="2000"/>
              <a:t>Текст</a:t>
            </a:r>
            <a:r>
              <a:rPr lang="" altLang="en-US" sz="2000"/>
              <a:t>»</a:t>
            </a:r>
            <a:r>
              <a:rPr lang="en-US" altLang="en-US" sz="2000"/>
              <a:t>, </a:t>
            </a:r>
            <a:r>
              <a:rPr lang="" altLang="en-US" sz="2000"/>
              <a:t>«</a:t>
            </a:r>
            <a:r>
              <a:rPr lang="en-US" altLang="en-US" sz="2000"/>
              <a:t>Ноты</a:t>
            </a:r>
            <a:r>
              <a:rPr lang="" altLang="en-US" sz="2000"/>
              <a:t>»</a:t>
            </a:r>
            <a:r>
              <a:rPr lang="en-US" altLang="en-US" sz="2000"/>
              <a:t>, </a:t>
            </a:r>
            <a:r>
              <a:rPr lang="" altLang="en-US" sz="2000"/>
              <a:t>«</a:t>
            </a:r>
            <a:r>
              <a:rPr lang="en-US" altLang="en-US" sz="2000"/>
              <a:t>Аудио</a:t>
            </a:r>
            <a:r>
              <a:rPr lang="" altLang="en-US" sz="2000"/>
              <a:t>»</a:t>
            </a:r>
            <a:r>
              <a:rPr lang="en-US" altLang="en-US" sz="2000"/>
              <a:t>).</a:t>
            </a:r>
          </a:p>
          <a:p>
            <a:pPr marL="0" indent="0">
              <a:buNone/>
            </a:pPr>
            <a:r>
              <a:rPr lang="en-US" altLang="en-US" sz="2000"/>
              <a:t>Вопросы:</a:t>
            </a:r>
          </a:p>
          <a:p>
            <a:r>
              <a:rPr lang="en-US" altLang="en-US" sz="2000"/>
              <a:t>   1. В какой опере звучит подлинная народная песня </a:t>
            </a:r>
            <a:r>
              <a:rPr lang="" altLang="en-US" sz="2000"/>
              <a:t>«</a:t>
            </a:r>
            <a:r>
              <a:rPr lang="en-US" altLang="en-US" sz="2000"/>
              <a:t>Исходила младешенька</a:t>
            </a:r>
            <a:r>
              <a:rPr lang="" altLang="en-US" sz="2000"/>
              <a:t>»</a:t>
            </a:r>
            <a:r>
              <a:rPr lang="en-US" altLang="en-US" sz="2000"/>
              <a:t>? (</a:t>
            </a:r>
            <a:r>
              <a:rPr lang="" altLang="en-US" sz="2000"/>
              <a:t>«</a:t>
            </a:r>
            <a:r>
              <a:rPr lang="en-US" altLang="en-US" sz="2000"/>
              <a:t>Хованщина</a:t>
            </a:r>
            <a:r>
              <a:rPr lang="" altLang="en-US" sz="2000"/>
              <a:t>»</a:t>
            </a:r>
            <a:r>
              <a:rPr lang="en-US" altLang="en-US" sz="2000"/>
              <a:t>)</a:t>
            </a:r>
          </a:p>
          <a:p>
            <a:r>
              <a:rPr lang="en-US" altLang="en-US" sz="2000"/>
              <a:t>   2. Песня какого мифологического персонажа в опере </a:t>
            </a:r>
            <a:r>
              <a:rPr lang="" altLang="en-US" sz="2000"/>
              <a:t>«</a:t>
            </a:r>
            <a:r>
              <a:rPr lang="en-US" altLang="en-US" sz="2000"/>
              <a:t>Снегурочка</a:t>
            </a:r>
            <a:r>
              <a:rPr lang="" altLang="en-US" sz="2000"/>
              <a:t>»</a:t>
            </a:r>
            <a:r>
              <a:rPr lang="en-US" altLang="en-US" sz="2000"/>
              <a:t> основана на народном напеве </a:t>
            </a:r>
            <a:r>
              <a:rPr lang="" altLang="en-US" sz="2000"/>
              <a:t>«</a:t>
            </a:r>
            <a:r>
              <a:rPr lang="en-US" altLang="en-US" sz="2000"/>
              <a:t>Туча со громом сговаривалась</a:t>
            </a:r>
            <a:r>
              <a:rPr lang="" altLang="en-US" sz="2000"/>
              <a:t>»</a:t>
            </a:r>
            <a:r>
              <a:rPr lang="en-US" altLang="en-US" sz="2000"/>
              <a:t>? (Лель)</a:t>
            </a:r>
          </a:p>
          <a:p>
            <a:r>
              <a:rPr lang="en-US" altLang="en-US" sz="2000"/>
              <a:t>   3. Какая героиня оперы </a:t>
            </a:r>
            <a:r>
              <a:rPr lang="" altLang="en-US" sz="2000"/>
              <a:t>«</a:t>
            </a:r>
            <a:r>
              <a:rPr lang="en-US" altLang="en-US" sz="2000"/>
              <a:t>Князь Игорь</a:t>
            </a:r>
            <a:r>
              <a:rPr lang="" altLang="en-US" sz="2000"/>
              <a:t>»</a:t>
            </a:r>
            <a:r>
              <a:rPr lang="en-US" altLang="en-US" sz="2000"/>
              <a:t> исполняет плач, основанный на интонациях народных причетов? (Ярославна)</a:t>
            </a:r>
          </a:p>
          <a:p>
            <a:r>
              <a:rPr lang="en-US" altLang="en-US" sz="2000"/>
              <a:t>   4. В какой опере П.И. Чайковского хор девушек поет подлинную народную песню? (</a:t>
            </a:r>
            <a:r>
              <a:rPr lang="" altLang="en-US" sz="2000"/>
              <a:t>«</a:t>
            </a:r>
            <a:r>
              <a:rPr lang="en-US" altLang="en-US" sz="2000"/>
              <a:t>Евгений Онегин</a:t>
            </a:r>
            <a:r>
              <a:rPr lang="" altLang="en-US" sz="2000"/>
              <a:t>»</a:t>
            </a:r>
            <a:r>
              <a:rPr lang="en-US" altLang="en-US" sz="2000"/>
              <a:t>)</a:t>
            </a:r>
          </a:p>
          <a:p>
            <a:r>
              <a:rPr lang="en-US" altLang="en-US" sz="2000"/>
              <a:t>   5. Какой композитор использовал в своей опере стилизацию под скандинавский эпос? (Н.А. Римский-Корсаков, </a:t>
            </a:r>
            <a:r>
              <a:rPr lang="" altLang="en-US" sz="2000"/>
              <a:t>«</a:t>
            </a:r>
            <a:r>
              <a:rPr lang="en-US" altLang="en-US" sz="2000"/>
              <a:t>Садко</a:t>
            </a:r>
            <a:r>
              <a:rPr lang="" altLang="en-US" sz="2000"/>
              <a:t>»</a:t>
            </a:r>
            <a:r>
              <a:rPr lang="en-US" altLang="en-US" sz="2000"/>
              <a:t>)</a:t>
            </a:r>
          </a:p>
          <a:p>
            <a:r>
              <a:rPr lang="en-US" altLang="en-US" sz="2000"/>
              <a:t>   6. Финальный хор какой оперы М.И. Глинки основан на интонациях молодецких и славленых песен? (</a:t>
            </a:r>
            <a:r>
              <a:rPr lang="" altLang="en-US" sz="2000"/>
              <a:t>«</a:t>
            </a:r>
            <a:r>
              <a:rPr lang="en-US" altLang="en-US" sz="2000"/>
              <a:t>Иван Сусанин</a:t>
            </a:r>
            <a:r>
              <a:rPr lang="" altLang="en-US" sz="2000"/>
              <a:t>»</a:t>
            </a:r>
            <a:r>
              <a:rPr lang="en-US" altLang="en-US" sz="200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90" y="274955"/>
            <a:ext cx="11962130" cy="1143000"/>
          </a:xfrm>
        </p:spPr>
        <p:txBody>
          <a:bodyPr/>
          <a:lstStyle/>
          <a:p>
            <a:r>
              <a:rPr lang="en-US" altLang="en-US" sz="4000" dirty="0" err="1"/>
              <a:t>Групповая</a:t>
            </a:r>
            <a:r>
              <a:rPr lang="en-US" altLang="en-US" sz="4000" dirty="0"/>
              <a:t> </a:t>
            </a:r>
            <a:r>
              <a:rPr lang="en-US" altLang="en-US" sz="4000" dirty="0" err="1"/>
              <a:t>работа</a:t>
            </a:r>
            <a:r>
              <a:rPr lang="en-US" altLang="en-US" sz="4000" dirty="0"/>
              <a:t> </a:t>
            </a:r>
            <a:r>
              <a:rPr lang="" altLang="en-US" sz="4000" dirty="0"/>
              <a:t>«</a:t>
            </a:r>
            <a:r>
              <a:rPr lang="en-US" altLang="en-US" sz="4000" dirty="0" err="1"/>
              <a:t>Совет</a:t>
            </a:r>
            <a:r>
              <a:rPr lang="en-US" altLang="en-US" sz="4000" dirty="0"/>
              <a:t> </a:t>
            </a:r>
            <a:r>
              <a:rPr lang="en-US" altLang="en-US" sz="4000" dirty="0" err="1"/>
              <a:t>музыкальных</a:t>
            </a:r>
            <a:r>
              <a:rPr lang="en-US" altLang="en-US" sz="4000" dirty="0"/>
              <a:t> </a:t>
            </a:r>
            <a:r>
              <a:rPr lang="en-US" altLang="en-US" sz="4000" dirty="0" err="1"/>
              <a:t>редакторов</a:t>
            </a:r>
            <a:r>
              <a:rPr lang="" altLang="en-US" sz="4000" dirty="0"/>
              <a:t>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791" y="1525772"/>
            <a:ext cx="6928529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Каждая </a:t>
            </a:r>
            <a:r>
              <a:rPr lang="en-US" altLang="en-US" sz="2000" dirty="0" err="1"/>
              <a:t>группа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получает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одну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номинацию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для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виртуальной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выставки</a:t>
            </a:r>
            <a:r>
              <a:rPr lang="en-US" altLang="en-US" sz="2000" dirty="0"/>
              <a:t>:</a:t>
            </a:r>
            <a:r>
              <a:rPr lang="x-none" altLang="en-US" sz="2000" dirty="0"/>
              <a:t> </a:t>
            </a:r>
            <a:r>
              <a:rPr lang="en-US" altLang="en-US" sz="2000" dirty="0" err="1"/>
              <a:t>самая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точная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цитата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композитор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почти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не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изменил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народную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мелодию</a:t>
            </a:r>
            <a:r>
              <a:rPr lang="en-US" altLang="en-US" sz="2000" dirty="0"/>
              <a:t>);</a:t>
            </a:r>
            <a:r>
              <a:rPr lang="x-none" altLang="en-US" sz="2000" dirty="0"/>
              <a:t> </a:t>
            </a:r>
            <a:r>
              <a:rPr lang="en-US" altLang="en-US" sz="2000" dirty="0" err="1"/>
              <a:t>самая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виртуозная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обработка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сложная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оркестровка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или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гармония</a:t>
            </a:r>
            <a:r>
              <a:rPr lang="en-US" altLang="en-US" sz="2000" dirty="0"/>
              <a:t>);</a:t>
            </a:r>
            <a:r>
              <a:rPr lang="x-none" altLang="en-US" sz="2000" dirty="0"/>
              <a:t> </a:t>
            </a:r>
            <a:r>
              <a:rPr lang="en-US" altLang="en-US" sz="2000" dirty="0" err="1"/>
              <a:t>цитата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наиболее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ярко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рисующая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образ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героя</a:t>
            </a:r>
            <a:r>
              <a:rPr lang="en-US" altLang="en-US" sz="2000" dirty="0"/>
              <a:t>;</a:t>
            </a:r>
            <a:r>
              <a:rPr lang="x-none" altLang="en-US" sz="2000" dirty="0"/>
              <a:t> </a:t>
            </a:r>
            <a:r>
              <a:rPr lang="en-US" altLang="en-US" sz="2000" dirty="0" err="1"/>
              <a:t>цитата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создающая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самый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густой</a:t>
            </a:r>
            <a:r>
              <a:rPr lang="en-US" altLang="en-US" sz="2000" dirty="0"/>
              <a:t> </a:t>
            </a:r>
            <a:r>
              <a:rPr lang="" altLang="en-US" sz="2000" dirty="0"/>
              <a:t>«</a:t>
            </a:r>
            <a:r>
              <a:rPr lang="en-US" altLang="en-US" sz="2000" dirty="0" err="1"/>
              <a:t>исторический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колорит</a:t>
            </a:r>
            <a:r>
              <a:rPr lang="" altLang="en-US" sz="2000" dirty="0"/>
              <a:t>»</a:t>
            </a:r>
            <a:r>
              <a:rPr lang="en-US" altLang="en-US" sz="2000" dirty="0"/>
              <a:t>;</a:t>
            </a:r>
            <a:r>
              <a:rPr lang="x-none" altLang="en-US" sz="2000" dirty="0"/>
              <a:t> </a:t>
            </a:r>
            <a:r>
              <a:rPr lang="en-US" altLang="en-US" sz="2000" dirty="0" err="1"/>
              <a:t>самая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печальная</a:t>
            </a:r>
            <a:r>
              <a:rPr lang="en-US" altLang="en-US" sz="2000" dirty="0"/>
              <a:t>, </a:t>
            </a:r>
            <a:r>
              <a:rPr lang="" altLang="en-US" sz="2000" dirty="0"/>
              <a:t>«</a:t>
            </a:r>
            <a:r>
              <a:rPr lang="en-US" altLang="en-US" sz="2000" dirty="0" err="1"/>
              <a:t>плачевая</a:t>
            </a:r>
            <a:r>
              <a:rPr lang="" altLang="en-US" sz="2000" dirty="0"/>
              <a:t>»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интонация</a:t>
            </a:r>
            <a:r>
              <a:rPr lang="en-US" altLang="en-US" sz="2000" dirty="0"/>
              <a:t>.</a:t>
            </a:r>
          </a:p>
          <a:p>
            <a:pPr marL="0" indent="0">
              <a:buNone/>
            </a:pPr>
            <a:r>
              <a:rPr lang="en-US" altLang="en-US" sz="2000" dirty="0"/>
              <a:t>     </a:t>
            </a:r>
            <a:r>
              <a:rPr lang="en-US" altLang="en-US" sz="2000" dirty="0" err="1"/>
              <a:t>Используя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только</a:t>
            </a:r>
            <a:r>
              <a:rPr lang="en-US" altLang="en-US" sz="2000" dirty="0"/>
              <a:t> web-</a:t>
            </a:r>
            <a:r>
              <a:rPr lang="en-US" altLang="en-US" sz="2000" dirty="0" err="1"/>
              <a:t>брошюру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группа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выбирает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оперный</a:t>
            </a:r>
            <a:r>
              <a:rPr lang="en-US" altLang="en-US" sz="2000" dirty="0"/>
              <a:t> фрагмент-победитель в </a:t>
            </a:r>
            <a:r>
              <a:rPr lang="en-US" altLang="en-US" sz="2000" dirty="0" err="1"/>
              <a:t>своей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номинации</a:t>
            </a:r>
            <a:r>
              <a:rPr lang="en-US" altLang="en-US" sz="2000" dirty="0"/>
              <a:t> и </a:t>
            </a:r>
            <a:r>
              <a:rPr lang="en-US" altLang="en-US" sz="2000" dirty="0" err="1"/>
              <a:t>заполняет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карточку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указывает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номинацию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оперу</a:t>
            </a:r>
            <a:r>
              <a:rPr lang="en-US" altLang="en-US" sz="2000" dirty="0"/>
              <a:t> и </a:t>
            </a:r>
            <a:r>
              <a:rPr lang="en-US" altLang="en-US" sz="2000" dirty="0" err="1"/>
              <a:t>дословные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доказательства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из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брошюры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цитату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из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текста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сравнение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нотных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строк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или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ссылку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на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аудио</a:t>
            </a:r>
            <a:r>
              <a:rPr lang="en-US" altLang="en-US" sz="2000" dirty="0"/>
              <a:t>)</a:t>
            </a:r>
            <a:r>
              <a:rPr lang="x-none" altLang="en-US" sz="2000" dirty="0"/>
              <a:t>.</a:t>
            </a:r>
          </a:p>
          <a:p>
            <a:pPr marL="0" indent="0">
              <a:buNone/>
            </a:pPr>
            <a:r>
              <a:rPr lang="x-none" altLang="en-US" sz="2000" dirty="0"/>
              <a:t>      </a:t>
            </a:r>
            <a:r>
              <a:rPr lang="en-US" altLang="en-US" sz="2000" dirty="0"/>
              <a:t>Презентация результатов.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D6BDBE-8B90-421C-ADB6-D62C725C5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09" y="1525772"/>
            <a:ext cx="4715540" cy="4715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en-US"/>
              <a:t>Критерии оценки:</a:t>
            </a:r>
          </a:p>
        </p:txBody>
      </p:sp>
      <p:pic>
        <p:nvPicPr>
          <p:cNvPr id="4" name="Picture 1" descr="Screenshot_20260517_20505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345" y="1300480"/>
            <a:ext cx="8613140" cy="40201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9403" y="5016182"/>
            <a:ext cx="9582150" cy="1567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 err="1"/>
              <a:t>Перевод</a:t>
            </a:r>
            <a:r>
              <a:rPr lang="en-US" altLang="en-US" dirty="0"/>
              <a:t> </a:t>
            </a:r>
            <a:r>
              <a:rPr lang="en-US" altLang="en-US" dirty="0" err="1"/>
              <a:t>баллов</a:t>
            </a:r>
            <a:r>
              <a:rPr lang="en-US" altLang="en-US" dirty="0"/>
              <a:t> в </a:t>
            </a:r>
            <a:r>
              <a:rPr lang="en-US" altLang="en-US" dirty="0" err="1"/>
              <a:t>оценку</a:t>
            </a:r>
            <a:r>
              <a:rPr lang="en-US" alt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8–9 </a:t>
            </a:r>
            <a:r>
              <a:rPr lang="en-US" altLang="en-US" dirty="0" err="1"/>
              <a:t>баллов</a:t>
            </a:r>
            <a:r>
              <a:rPr lang="en-US" altLang="en-US" dirty="0"/>
              <a:t> — </a:t>
            </a:r>
            <a:r>
              <a:rPr lang="" altLang="en-US" dirty="0"/>
              <a:t>«</a:t>
            </a:r>
            <a:r>
              <a:rPr lang="en-US" altLang="en-US" dirty="0"/>
              <a:t>5</a:t>
            </a:r>
            <a:r>
              <a:rPr lang="" altLang="en-US" dirty="0"/>
              <a:t>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6–7 </a:t>
            </a:r>
            <a:r>
              <a:rPr lang="en-US" altLang="en-US" dirty="0" err="1"/>
              <a:t>баллов</a:t>
            </a:r>
            <a:r>
              <a:rPr lang="en-US" altLang="en-US" dirty="0"/>
              <a:t> — </a:t>
            </a:r>
            <a:r>
              <a:rPr lang="" altLang="en-US" dirty="0"/>
              <a:t>«</a:t>
            </a:r>
            <a:r>
              <a:rPr lang="en-US" altLang="en-US" dirty="0"/>
              <a:t>4</a:t>
            </a:r>
            <a:r>
              <a:rPr lang="" altLang="en-US" dirty="0"/>
              <a:t>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4–5 </a:t>
            </a:r>
            <a:r>
              <a:rPr lang="en-US" altLang="en-US" dirty="0" err="1"/>
              <a:t>баллов</a:t>
            </a:r>
            <a:r>
              <a:rPr lang="en-US" altLang="en-US" dirty="0"/>
              <a:t> — </a:t>
            </a:r>
            <a:r>
              <a:rPr lang="" altLang="en-US" dirty="0"/>
              <a:t>«</a:t>
            </a:r>
            <a:r>
              <a:rPr lang="en-US" altLang="en-US" dirty="0"/>
              <a:t>3</a:t>
            </a:r>
            <a:r>
              <a:rPr lang="" altLang="en-US" dirty="0"/>
              <a:t>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/>
              <a:t>менее</a:t>
            </a:r>
            <a:r>
              <a:rPr lang="en-US" altLang="en-US" dirty="0"/>
              <a:t> 4 </a:t>
            </a:r>
            <a:r>
              <a:rPr lang="en-US" altLang="en-US" dirty="0" err="1"/>
              <a:t>баллов</a:t>
            </a:r>
            <a:r>
              <a:rPr lang="en-US" altLang="en-US" dirty="0"/>
              <a:t> — </a:t>
            </a:r>
            <a:r>
              <a:rPr lang="en-US" altLang="en-US" dirty="0" err="1"/>
              <a:t>задание</a:t>
            </a:r>
            <a:r>
              <a:rPr lang="en-US" altLang="en-US" dirty="0"/>
              <a:t> </a:t>
            </a:r>
            <a:r>
              <a:rPr lang="en-US" altLang="en-US" dirty="0" err="1"/>
              <a:t>выполняется</a:t>
            </a:r>
            <a:r>
              <a:rPr lang="en-US" altLang="en-US" dirty="0"/>
              <a:t> </a:t>
            </a:r>
            <a:r>
              <a:rPr lang="en-US" altLang="en-US" dirty="0" err="1"/>
              <a:t>повторно</a:t>
            </a:r>
            <a:r>
              <a:rPr lang="en-US" altLang="en-US" dirty="0"/>
              <a:t> в </a:t>
            </a:r>
            <a:r>
              <a:rPr lang="en-US" altLang="en-US" dirty="0" err="1"/>
              <a:t>форме</a:t>
            </a:r>
            <a:r>
              <a:rPr lang="en-US" altLang="en-US" dirty="0"/>
              <a:t> </a:t>
            </a:r>
            <a:r>
              <a:rPr lang="en-US" altLang="en-US" dirty="0" err="1"/>
              <a:t>устного</a:t>
            </a:r>
            <a:r>
              <a:rPr lang="en-US" altLang="en-US" dirty="0"/>
              <a:t> </a:t>
            </a:r>
            <a:r>
              <a:rPr lang="en-US" altLang="en-US" dirty="0" err="1"/>
              <a:t>опроса</a:t>
            </a:r>
            <a:r>
              <a:rPr lang="en-US" altLang="en-US" dirty="0"/>
              <a:t> с </a:t>
            </a:r>
            <a:r>
              <a:rPr lang="en-US" altLang="en-US" dirty="0" err="1"/>
              <a:t>брошюрой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162665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/>
              <a:t>В ходе веб-квеста </a:t>
            </a:r>
            <a:r>
              <a:rPr lang="" altLang="en-US" sz="2800"/>
              <a:t>«</a:t>
            </a:r>
            <a:r>
              <a:rPr lang="en-US" altLang="en-US" sz="2800"/>
              <a:t>Брошюра с народными музыкальными цитатами в операх русских композиторов</a:t>
            </a:r>
            <a:r>
              <a:rPr lang="" altLang="en-US" sz="2800"/>
              <a:t>»</a:t>
            </a:r>
            <a:r>
              <a:rPr lang="en-US" altLang="en-US" sz="2800"/>
              <a:t> учащиеся 7 класс</a:t>
            </a:r>
            <a:r>
              <a:rPr lang="x-none" altLang="en-US" sz="2800"/>
              <a:t> о</a:t>
            </a:r>
            <a:r>
              <a:rPr lang="en-US" altLang="en-US" sz="2800"/>
              <a:t>сознали глубинный принцип взаимодействия профессионального искусства с национальной почвой. Подобный подход, основанный на слуховом сравнении и визуальном анализе нотного текста, позволяет исключить поверхностное восприятие классической музыки и сосредоточить внимание школьников на ключевом вопросе: </a:t>
            </a:r>
            <a:r>
              <a:rPr lang="" altLang="en-US" sz="2800"/>
              <a:t>«</a:t>
            </a:r>
            <a:r>
              <a:rPr lang="en-US" altLang="en-US" sz="2800"/>
              <a:t>Как и зачем композитор переосмысливает народную песню?</a:t>
            </a:r>
            <a:r>
              <a:rPr lang="" altLang="en-US" sz="2800"/>
              <a:t>»</a:t>
            </a:r>
            <a:r>
              <a:rPr lang="en-US" altLang="en-US" sz="28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865</Words>
  <Application>Microsoft Office PowerPoint</Application>
  <PresentationFormat>Широкоэкранный</PresentationFormat>
  <Paragraphs>45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Business Cooperate</vt:lpstr>
      <vt:lpstr>«Брошюра с народными музыкальными цитатами в операх русских композиторов»</vt:lpstr>
      <vt:lpstr>Цель:</vt:lpstr>
      <vt:lpstr>Описание web-брошюры:</vt:lpstr>
      <vt:lpstr>План работы </vt:lpstr>
      <vt:lpstr>Заполнение «Карточки музыкального детектива». </vt:lpstr>
      <vt:lpstr>Групповая работа «Совет музыкальных редакторов»</vt:lpstr>
      <vt:lpstr>Критерии оценки: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«Брошюра с народными музыкальными цитатами в операх русских композиторов»</dc:title>
  <dc:creator>hsl</dc:creator>
  <cp:lastModifiedBy>Daniil Zuykov</cp:lastModifiedBy>
  <cp:revision>10</cp:revision>
  <dcterms:created xsi:type="dcterms:W3CDTF">2026-05-21T09:47:00Z</dcterms:created>
  <dcterms:modified xsi:type="dcterms:W3CDTF">2026-05-23T08:00:22Z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1033-12.8.2.22595</vt:lpwstr>
  </property>
  <property fmtid="{D5CDD505-2E9C-101B-9397-08002B2CF9AE}" pid="3" name="ICV">
    <vt:lpwstr>DA5C749AED1553F582C90E6A9C0B3F23_41</vt:lpwstr>
  </property>
</Properties>
</file>